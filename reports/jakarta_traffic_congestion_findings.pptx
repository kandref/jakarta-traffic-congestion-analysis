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200">
                <a:solidFill>
                  <a:srgbClr val="FFFFFF"/>
                </a:solidFill>
              </a:defRPr>
            </a:pPr>
            <a:r>
              <a:t>Jakarta Traffic Congestion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78608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6E1EE"/>
                </a:solidFill>
              </a:defRPr>
            </a:pPr>
            <a:r>
              <a:t>Early findings from 2023 peak-hour corridor speed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0807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6E1EE"/>
                </a:solidFill>
              </a:defRPr>
            </a:pPr>
            <a:r>
              <a:t>Data source: Satu Data Jakarta / Data.go.id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A first-pass diagnosis using corridor speed as congestion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dataset has 576 observations across 12 months in 2023.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raw file contains 48 unique corridor names, although the catalog title mentions 41 corridors.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Overall mean peak-hour speed is 32.25 km/h.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19 corridors have mean peak-hour speed below 30 km/h.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pattern points to persistent corridor-level bottlenecks, not only a one-off monthly fluctuation.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Dataset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Current analysis uses corridor speed; demand and road-capacity data are next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256032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527048"/>
            <a:ext cx="2231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35A9B"/>
                </a:solidFill>
              </a:defRPr>
            </a:pPr>
            <a:r>
              <a:t>576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520440" y="1417320"/>
            <a:ext cx="256032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527048"/>
            <a:ext cx="2231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B805C"/>
                </a:solidFill>
              </a:defRPr>
            </a:pPr>
            <a:r>
              <a:t>12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months in 2023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256032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527048"/>
            <a:ext cx="2231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35A9B"/>
                </a:solidFill>
              </a:defRPr>
            </a:pPr>
            <a:r>
              <a:t>48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unique corridor names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1417320"/>
            <a:ext cx="256032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54312" y="1527048"/>
            <a:ext cx="223113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C23B22"/>
                </a:solidFill>
              </a:defRPr>
            </a:pPr>
            <a:r>
              <a:t>32.2 km/h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mean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Raw fields: periode_data, bulan, nama_jalan, kecepatan.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speed column uses Indonesian decimal commas and is cleaned into numeric km/h.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current dataset is useful for identifying slow corridors, but not enough for complete causal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Slowest Corridors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Mean peak-hour speed by corridor, 2023</a:t>
            </a:r>
          </a:p>
        </p:txBody>
      </p:sp>
      <p:pic>
        <p:nvPicPr>
          <p:cNvPr id="4" name="Picture 3" descr="jakarta_slowest_corrid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92240" cy="418388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52360" y="1444752"/>
          <a:ext cx="40690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7270"/>
                <a:gridCol w="1017270"/>
                <a:gridCol w="1017270"/>
                <a:gridCol w="1017270"/>
              </a:tblGrid>
              <a:tr h="346165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Corridor</a:t>
                      </a:r>
                    </a:p>
                  </a:txBody>
                  <a:tcPr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Mean km/h</a:t>
                      </a:r>
                    </a:p>
                  </a:txBody>
                  <a:tcPr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Obs.</a:t>
                      </a:r>
                    </a:p>
                  </a:txBody>
                  <a:tcPr>
                    <a:solidFill>
                      <a:srgbClr val="14263D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Hayam Wuruk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Veteran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22.96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Ciputat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23.54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Margaguna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23.84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Kembangan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25.06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Ujung Menteng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25.33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426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41605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Slowest corridor: Hayam Wuruk at 20.82 km/h.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These corridors are candidates for deeper bottleneck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Monthly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Average speed varies, but congestion signal remains persistent</a:t>
            </a:r>
          </a:p>
        </p:txBody>
      </p:sp>
      <p:pic>
        <p:nvPicPr>
          <p:cNvPr id="4" name="Picture 3" descr="jakarta_monthly_peak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492240" cy="366620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43800" y="1417320"/>
            <a:ext cx="342900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08392" y="1527048"/>
            <a:ext cx="30998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C23B22"/>
                </a:solidFill>
              </a:defRPr>
            </a:pPr>
            <a:r>
              <a:t>31.56 km/h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lowest monthly mean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2606040"/>
            <a:ext cx="342900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2715768"/>
            <a:ext cx="30998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C23B22"/>
                </a:solidFill>
              </a:defRPr>
            </a:pPr>
            <a:r>
              <a:t>2/2023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3794760"/>
            <a:ext cx="342900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8392" y="3904488"/>
            <a:ext cx="30998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B805C"/>
                </a:solidFill>
              </a:defRPr>
            </a:pPr>
            <a:r>
              <a:t>33.10 km/h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highest monthly 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4983480"/>
            <a:ext cx="3429000" cy="960120"/>
          </a:xfrm>
          <a:prstGeom prst="rect">
            <a:avLst/>
          </a:prstGeom>
          <a:solidFill>
            <a:srgbClr val="F2F5F8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08392" y="5093208"/>
            <a:ext cx="3099816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B805C"/>
                </a:solidFill>
              </a:defRPr>
            </a:pPr>
            <a:r>
              <a:t>4/2023</a:t>
            </a:r>
          </a:p>
          <a:p>
            <a:pPr>
              <a:defRPr sz="1000">
                <a:solidFill>
                  <a:srgbClr val="5E6978"/>
                </a:solidFill>
              </a:defRPr>
            </a:pPr>
            <a:r>
              <a:t>month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How To Read The Congestion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A simple demand-capacity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Vehicle demand pushes more vehicles into limited corridor space.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At peak hours, density rises and effective capacity becomes binding.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Higher density reduces average speed.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Local slowdowns become bottlenecks.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Bottlenecks can create upstream queue-like waves, which is why traffic can remain slow even after the initial trigger changes.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0" y="1508760"/>
            <a:ext cx="1508760" cy="685800"/>
          </a:xfrm>
          <a:prstGeom prst="rect">
            <a:avLst/>
          </a:prstGeom>
          <a:solidFill>
            <a:srgbClr val="235A9B"/>
          </a:solidFill>
          <a:ln>
            <a:solidFill>
              <a:srgbClr val="2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Demand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508760"/>
            <a:ext cx="1508760" cy="685800"/>
          </a:xfrm>
          <a:prstGeom prst="rect">
            <a:avLst/>
          </a:prstGeom>
          <a:solidFill>
            <a:srgbClr val="235A9B"/>
          </a:solidFill>
          <a:ln>
            <a:solidFill>
              <a:srgbClr val="235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Density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2971800"/>
            <a:ext cx="1508760" cy="685800"/>
          </a:xfrm>
          <a:prstGeom prst="rect">
            <a:avLst/>
          </a:prstGeom>
          <a:solidFill>
            <a:srgbClr val="C23B22"/>
          </a:solidFill>
          <a:ln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Speed drops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971800"/>
            <a:ext cx="1508760" cy="685800"/>
          </a:xfrm>
          <a:prstGeom prst="rect">
            <a:avLst/>
          </a:prstGeom>
          <a:solidFill>
            <a:srgbClr val="C23B22"/>
          </a:solidFill>
          <a:ln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Bottleneck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4434840"/>
            <a:ext cx="1508760" cy="685800"/>
          </a:xfrm>
          <a:prstGeom prst="rect">
            <a:avLst/>
          </a:prstGeom>
          <a:solidFill>
            <a:srgbClr val="14263D"/>
          </a:solidFill>
          <a:ln>
            <a:solidFill>
              <a:srgbClr val="142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Queue waves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What the current evidence supports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corridor-speed dataset supports a bottleneck screening analysis.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Slow corridors can be prioritized for follow-up using demand, geometry, public transport, and incident data.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The data does not yet prove a full causal model of Jakarta congestion.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A defensible next step is to connect corridor speed with vehicle demand and a simplified traffic-flow simulation.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Connection To Thesis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From thesis prototype to reproducible traffic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Original thesis direction: fluid-inspired traffic modelling.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Repository enhancement: reproducible Python simulation and dashboard.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Jakarta repository: separate empirical case study using open data.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Future bridge: use Jakarta corridor speeds to calibrate scenario parameters in a simplified traffic-flow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Next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601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E6978"/>
                </a:solidFill>
              </a:defRPr>
            </a:pPr>
            <a:r>
              <a:t>Data layers needed before stronger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Add BPS vehicle ownership and road-length context.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Find corridor-level volume or count data for Jakarta.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Map corridor speed to candidate bottleneck strength.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Compare simulated speed-density patterns against observed corridor speeds.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Document limitations explicitly before turning this into an article or paper draft.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201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3D"/>
                </a:solidFill>
              </a:defRPr>
            </a:pPr>
            <a:r>
              <a:t>Sources And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Satu Data Jakarta / Data.go.id: Kecepatan Rata-rata di 41 Koridor Jalan Utama pada Jam Sibuk.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CSV file downloaded from the Satu Data Jakarta export endpoint.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Repository: https://github.com/kandref/jakarta-traffic-congestion-analysis</a:t>
            </a:r>
          </a:p>
          <a:p>
            <a:pPr>
              <a:spcAft>
                <a:spcPts val="800"/>
              </a:spcAft>
              <a:defRPr sz="1700">
                <a:solidFill>
                  <a:srgbClr val="14263D"/>
                </a:solidFill>
              </a:defRPr>
            </a:pPr>
            <a:r>
              <a:t>Generated deck: jakarta_traffic_congestion_findings.pptx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327648"/>
            <a:ext cx="11201400" cy="9144"/>
          </a:xfrm>
          <a:prstGeom prst="rect">
            <a:avLst/>
          </a:prstGeom>
          <a:solidFill>
            <a:srgbClr val="F2F5F8"/>
          </a:solidFill>
          <a:ln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38251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E6978"/>
                </a:solidFill>
              </a:defRPr>
            </a:pPr>
            <a:r>
              <a:t>Jakarta Traffic Congestion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